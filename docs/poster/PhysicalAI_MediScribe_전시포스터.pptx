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sldIdLst>
    <p:sldId id="259" r:id="rId8"/>
  </p:sldIdLst>
  <p:sldSz cx="34199513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80" autoAdjust="0"/>
    <p:restoredTop sz="96076" autoAdjust="0"/>
  </p:normalViewPr>
  <p:slideViewPr>
    <p:cSldViewPr snapToGrid="0">
      <p:cViewPr varScale="1">
        <p:scale>
          <a:sx n="16" d="100"/>
          <a:sy n="16" d="100"/>
        </p:scale>
        <p:origin x="348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5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626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483E8A6-A21E-A137-3D7C-60E941A5AE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4199513" cy="4320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419947" rtl="0" eaLnBrk="1" latinLnBrk="1" hangingPunct="1">
        <a:lnSpc>
          <a:spcPct val="90000"/>
        </a:lnSpc>
        <a:spcBef>
          <a:spcPct val="0"/>
        </a:spcBef>
        <a:buNone/>
        <a:defRPr sz="16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4987" indent="-854987" algn="l" defTabSz="3419947" rtl="0" eaLnBrk="1" latinLnBrk="1" hangingPunct="1">
        <a:lnSpc>
          <a:spcPct val="90000"/>
        </a:lnSpc>
        <a:spcBef>
          <a:spcPts val="3740"/>
        </a:spcBef>
        <a:buFont typeface="Arial" panose="020B0604020202020204" pitchFamily="34" charset="0"/>
        <a:buChar char="•"/>
        <a:defRPr sz="10472" kern="1200">
          <a:solidFill>
            <a:schemeClr val="tx1"/>
          </a:solidFill>
          <a:latin typeface="+mn-lt"/>
          <a:ea typeface="+mn-ea"/>
          <a:cs typeface="+mn-cs"/>
        </a:defRPr>
      </a:lvl1pPr>
      <a:lvl2pPr marL="2564961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8976" kern="1200">
          <a:solidFill>
            <a:schemeClr val="tx1"/>
          </a:solidFill>
          <a:latin typeface="+mn-lt"/>
          <a:ea typeface="+mn-ea"/>
          <a:cs typeface="+mn-cs"/>
        </a:defRPr>
      </a:lvl2pPr>
      <a:lvl3pPr marL="4274934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7480" kern="1200">
          <a:solidFill>
            <a:schemeClr val="tx1"/>
          </a:solidFill>
          <a:latin typeface="+mn-lt"/>
          <a:ea typeface="+mn-ea"/>
          <a:cs typeface="+mn-cs"/>
        </a:defRPr>
      </a:lvl3pPr>
      <a:lvl4pPr marL="5984908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7694882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9404855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1114829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2824803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4534777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1pPr>
      <a:lvl2pPr marL="1709974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2pPr>
      <a:lvl3pPr marL="3419947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3pPr>
      <a:lvl4pPr marL="5129921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6839895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8549869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0259842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1969816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367979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EF4A25-A5A7-D8A9-393D-E0AF398DC5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7330" cy="432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5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3419947" rtl="0" eaLnBrk="1" latinLnBrk="1" hangingPunct="1">
        <a:lnSpc>
          <a:spcPct val="90000"/>
        </a:lnSpc>
        <a:spcBef>
          <a:spcPct val="0"/>
        </a:spcBef>
        <a:buNone/>
        <a:defRPr sz="16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4987" indent="-854987" algn="l" defTabSz="3419947" rtl="0" eaLnBrk="1" latinLnBrk="1" hangingPunct="1">
        <a:lnSpc>
          <a:spcPct val="90000"/>
        </a:lnSpc>
        <a:spcBef>
          <a:spcPts val="3740"/>
        </a:spcBef>
        <a:buFont typeface="Arial" panose="020B0604020202020204" pitchFamily="34" charset="0"/>
        <a:buChar char="•"/>
        <a:defRPr sz="10472" kern="1200">
          <a:solidFill>
            <a:schemeClr val="tx1"/>
          </a:solidFill>
          <a:latin typeface="+mn-lt"/>
          <a:ea typeface="+mn-ea"/>
          <a:cs typeface="+mn-cs"/>
        </a:defRPr>
      </a:lvl1pPr>
      <a:lvl2pPr marL="2564961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8976" kern="1200">
          <a:solidFill>
            <a:schemeClr val="tx1"/>
          </a:solidFill>
          <a:latin typeface="+mn-lt"/>
          <a:ea typeface="+mn-ea"/>
          <a:cs typeface="+mn-cs"/>
        </a:defRPr>
      </a:lvl2pPr>
      <a:lvl3pPr marL="4274934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7480" kern="1200">
          <a:solidFill>
            <a:schemeClr val="tx1"/>
          </a:solidFill>
          <a:latin typeface="+mn-lt"/>
          <a:ea typeface="+mn-ea"/>
          <a:cs typeface="+mn-cs"/>
        </a:defRPr>
      </a:lvl3pPr>
      <a:lvl4pPr marL="5984908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7694882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9404855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1114829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2824803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4534777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1pPr>
      <a:lvl2pPr marL="1709974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2pPr>
      <a:lvl3pPr marL="3419947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3pPr>
      <a:lvl4pPr marL="5129921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6839895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8549869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0259842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1969816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367979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EB29-801E-CB54-9B3C-7DD2730C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400" y="7308000"/>
            <a:ext cx="1872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50" b="1">
                <a:solidFill>
                  <a:srgbClr val="43176F"/>
                </a:solidFill>
                <a:latin typeface="Paperlogy"/>
              </a:rPr>
              <a:t>MediScribe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400" y="8640000"/>
            <a:ext cx="1872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80" b="1">
                <a:solidFill>
                  <a:srgbClr val="6B3C9E"/>
                </a:solidFill>
                <a:latin typeface="Paperlogy"/>
              </a:rPr>
              <a:t>회진에 동행하는 진료 요약 로봇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81600" y="7272000"/>
            <a:ext cx="1584000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2440" b="1">
                <a:solidFill>
                  <a:srgbClr val="1C1526"/>
                </a:solidFill>
                <a:latin typeface="Paperlogy"/>
              </a:rPr>
              <a:t>연세대학교</a:t>
            </a:r>
          </a:p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980" b="1">
                <a:solidFill>
                  <a:srgbClr val="6B3C9E"/>
                </a:solidFill>
                <a:latin typeface="Paperlogy"/>
              </a:rPr>
              <a:t>건설환경공학과 </a:t>
            </a:r>
            <a:r>
              <a:rPr sz="1980" b="0">
                <a:solidFill>
                  <a:srgbClr val="5B5168"/>
                </a:solidFill>
                <a:latin typeface="Paperlogy"/>
              </a:rPr>
              <a:t>남윤상 · 김진찬</a:t>
            </a:r>
          </a:p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980" b="1">
                <a:solidFill>
                  <a:srgbClr val="6B3C9E"/>
                </a:solidFill>
                <a:latin typeface="Paperlogy"/>
              </a:rPr>
              <a:t>미래캠퍼스 간호학과 </a:t>
            </a:r>
            <a:r>
              <a:rPr sz="1980" b="0">
                <a:solidFill>
                  <a:srgbClr val="5B5168"/>
                </a:solidFill>
                <a:latin typeface="Paperlogy"/>
              </a:rPr>
              <a:t>지민선 · 김해인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1778400" y="9432000"/>
            <a:ext cx="30643200" cy="50400"/>
          </a:xfrm>
          <a:prstGeom prst="rect">
            <a:avLst/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400" y="9792000"/>
            <a:ext cx="306432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90" b="0">
                <a:solidFill>
                  <a:srgbClr val="1C1526"/>
                </a:solidFill>
                <a:latin typeface="Paperlogy"/>
              </a:rPr>
              <a:t>의사–환자 대화를 듣고 </a:t>
            </a:r>
            <a:r>
              <a:rPr sz="2490" b="1">
                <a:solidFill>
                  <a:srgbClr val="43176F"/>
                </a:solidFill>
                <a:latin typeface="Paperlogy"/>
              </a:rPr>
              <a:t>환자가 가져갈 설명문</a:t>
            </a:r>
            <a:r>
              <a:rPr sz="2490" b="0">
                <a:solidFill>
                  <a:srgbClr val="1C1526"/>
                </a:solidFill>
                <a:latin typeface="Paperlogy"/>
              </a:rPr>
              <a:t>을 만들어, </a:t>
            </a:r>
            <a:r>
              <a:rPr sz="2490" b="1">
                <a:solidFill>
                  <a:srgbClr val="43176F"/>
                </a:solidFill>
                <a:latin typeface="Paperlogy"/>
              </a:rPr>
              <a:t>의사가 검수한 내용만</a:t>
            </a:r>
            <a:r>
              <a:rPr sz="2490" b="0">
                <a:solidFill>
                  <a:srgbClr val="1C1526"/>
                </a:solidFill>
                <a:latin typeface="Paperlogy"/>
              </a:rPr>
              <a:t> 그 자리에서 종이와 QR로 전달합니다. 음성인식·요약·주행이 모두 로봇 안에서 돌아가 </a:t>
            </a:r>
            <a:r>
              <a:rPr sz="2490" b="1">
                <a:solidFill>
                  <a:srgbClr val="43176F"/>
                </a:solidFill>
                <a:latin typeface="Paperlogy"/>
              </a:rPr>
              <a:t>대화는 병원 밖으로 나가지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8400" y="11448000"/>
            <a:ext cx="15177600" cy="522000"/>
          </a:xfrm>
          <a:prstGeom prst="roundRect">
            <a:avLst>
              <a:gd name="adj" fmla="val 12000"/>
            </a:avLst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개발 배경 — 설명은 말로 한 번 끝난다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400" y="12150000"/>
            <a:ext cx="15177600" cy="31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2320" b="0">
                <a:solidFill>
                  <a:srgbClr val="1C1526"/>
                </a:solidFill>
                <a:latin typeface="Paperlogy"/>
              </a:rPr>
              <a:t>· 회진 설명은 평균 수 분. 환자는 </a:t>
            </a:r>
            <a:r>
              <a:rPr sz="2320" b="1">
                <a:solidFill>
                  <a:srgbClr val="43176F"/>
                </a:solidFill>
                <a:latin typeface="Paperlogy"/>
              </a:rPr>
              <a:t>약 용량·재검 일정·위험 신호</a:t>
            </a:r>
            <a:r>
              <a:rPr sz="2320" b="0">
                <a:solidFill>
                  <a:srgbClr val="1C1526"/>
                </a:solidFill>
                <a:latin typeface="Paperlogy"/>
              </a:rPr>
              <a:t>를 기억하지 못한 채 병실을 나선다.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2320" b="0">
                <a:solidFill>
                  <a:srgbClr val="1C1526"/>
                </a:solidFill>
                <a:latin typeface="Paperlogy"/>
              </a:rPr>
              <a:t>· 의사가 매번 요약을 적어주는 것은 진료 시간상 불가능하다.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2320" b="0">
                <a:solidFill>
                  <a:srgbClr val="1C1526"/>
                </a:solidFill>
                <a:latin typeface="Paperlogy"/>
              </a:rPr>
              <a:t>· 기존 음성기록 제품은 </a:t>
            </a:r>
            <a:r>
              <a:rPr sz="2320" b="1">
                <a:solidFill>
                  <a:srgbClr val="43176F"/>
                </a:solidFill>
                <a:latin typeface="Paperlogy"/>
              </a:rPr>
              <a:t>의무기록용이고 클라우드로 전송</a:t>
            </a:r>
            <a:r>
              <a:rPr sz="2320" b="0">
                <a:solidFill>
                  <a:srgbClr val="1C1526"/>
                </a:solidFill>
                <a:latin typeface="Paperlogy"/>
              </a:rPr>
              <a:t>된다. 환자용 설명문이 아니며, 대화가 외부로 나간다.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400" y="15336000"/>
            <a:ext cx="151776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80" b="0">
                <a:solidFill>
                  <a:srgbClr val="5B5168"/>
                </a:solidFill>
                <a:latin typeface="Paperlogy"/>
              </a:rPr>
              <a:t>→ 설명이 끝나는 그 자리에서, 환자가 손에 쥘 종이 한 장을 만든다.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400" y="16128000"/>
            <a:ext cx="15177600" cy="522000"/>
          </a:xfrm>
          <a:prstGeom prst="roundRect">
            <a:avLst>
              <a:gd name="adj" fmla="val 12000"/>
            </a:avLst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작동 방식 — 8단계 파이프라인</a:t>
            </a:r>
          </a:p>
        </p:txBody>
      </p:sp>
      <p:pic>
        <p:nvPicPr>
          <p:cNvPr id="11" name="Picture 10" descr="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400" y="16794000"/>
            <a:ext cx="15177600" cy="51741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78400" y="22148181"/>
            <a:ext cx="151776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980" b="0">
                <a:solidFill>
                  <a:srgbClr val="5B5168"/>
                </a:solidFill>
                <a:latin typeface="Paperlogy"/>
              </a:rPr>
              <a:t>ReSpeaker 6-mic → Riva 한국어 스트리밍 인식 → 임상 내용 없는 발화 차단 → 소형 LLM 추출 → 원문 대조 검증 → 규칙으로 용량·일정·경고 회수 → 의사 승인 → 출력. 전 구간 Jetson Orin NX 16GB 온디바이스.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78400" y="23256000"/>
            <a:ext cx="15177600" cy="522000"/>
          </a:xfrm>
          <a:prstGeom prst="roundRect">
            <a:avLst>
              <a:gd name="adj" fmla="val 12000"/>
            </a:avLst>
          </a:prstGeom>
          <a:solidFill>
            <a:srgbClr val="6B3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자율주행 — 엔코더 없는 차량의 SLAM</a:t>
            </a:r>
          </a:p>
        </p:txBody>
      </p:sp>
      <p:pic>
        <p:nvPicPr>
          <p:cNvPr id="14" name="Picture 13" descr="map_pp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400" y="23922000"/>
            <a:ext cx="15177600" cy="648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78400" y="30546000"/>
            <a:ext cx="151776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000"/>
              </a:lnSpc>
              <a:spcAft>
                <a:spcPts val="0"/>
              </a:spcAft>
            </a:pPr>
            <a:r>
              <a:rPr sz="1930" b="0">
                <a:solidFill>
                  <a:srgbClr val="5B5168"/>
                </a:solidFill>
                <a:latin typeface="Paperlogy"/>
              </a:rPr>
              <a:t>수동 주행 한 번으로 작성한 복도·교차로 점유격자 지도. 청록색은 주행 궤적. 바퀴 엔코더가 없어 </a:t>
            </a:r>
            <a:r>
              <a:rPr sz="1930" b="1">
                <a:solidFill>
                  <a:srgbClr val="43176F"/>
                </a:solidFill>
                <a:latin typeface="Paperlogy"/>
              </a:rPr>
              <a:t>매 스캔의 지도 정합 결과를 오도메트리로 사용</a:t>
            </a:r>
            <a:r>
              <a:rPr sz="1930" b="0">
                <a:solidFill>
                  <a:srgbClr val="5B5168"/>
                </a:solidFill>
                <a:latin typeface="Paperlogy"/>
              </a:rPr>
              <a:t>한다. ROS2 없이 순수 Python 구현.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244000" y="11448000"/>
            <a:ext cx="15177600" cy="522000"/>
          </a:xfrm>
          <a:prstGeom prst="roundRect">
            <a:avLst>
              <a:gd name="adj" fmla="val 12000"/>
            </a:avLst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로봇 플랫폼</a:t>
            </a:r>
          </a:p>
        </p:txBody>
      </p:sp>
      <p:pic>
        <p:nvPicPr>
          <p:cNvPr id="17" name="Picture 16" descr="photo_full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4000" y="12114000"/>
            <a:ext cx="7516800" cy="4752000"/>
          </a:xfrm>
          <a:prstGeom prst="rect">
            <a:avLst/>
          </a:prstGeom>
        </p:spPr>
      </p:pic>
      <p:pic>
        <p:nvPicPr>
          <p:cNvPr id="18" name="Picture 17" descr="photo_open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4800" y="12114000"/>
            <a:ext cx="7516800" cy="475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244000" y="16930800"/>
            <a:ext cx="75168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0" b="1">
                <a:solidFill>
                  <a:srgbClr val="43176F"/>
                </a:solidFill>
                <a:latin typeface="Paperlogy"/>
              </a:rPr>
              <a:t>외관  </a:t>
            </a:r>
            <a:r>
              <a:rPr sz="1760" b="0">
                <a:solidFill>
                  <a:srgbClr val="5B5168"/>
                </a:solidFill>
                <a:latin typeface="Paperlogy"/>
              </a:rPr>
              <a:t>상부 장비함과 전방 2D 라이다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04800" y="16930800"/>
            <a:ext cx="75168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0" b="1">
                <a:solidFill>
                  <a:srgbClr val="43176F"/>
                </a:solidFill>
                <a:latin typeface="Paperlogy"/>
              </a:rPr>
              <a:t>내부  </a:t>
            </a:r>
            <a:r>
              <a:rPr sz="1760" b="0">
                <a:solidFill>
                  <a:srgbClr val="5B5168"/>
                </a:solidFill>
                <a:latin typeface="Paperlogy"/>
              </a:rPr>
              <a:t>Jetson · 제어 보드 · 배터리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44000" y="17326800"/>
            <a:ext cx="151776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980" b="0">
                <a:solidFill>
                  <a:srgbClr val="5B5168"/>
                </a:solidFill>
                <a:latin typeface="Paperlogy"/>
              </a:rPr>
              <a:t>1/5 스케일 애커만 조향 차량. 상부 장비함에 Jetson Orin NX 16GB, 전방 2D 라이다(STL-27L), 6채널 마이크 어레이와 배터리를 싣고 하위 제어는 Arduino Mega가 맡는다.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244000" y="18288000"/>
            <a:ext cx="15177600" cy="522000"/>
          </a:xfrm>
          <a:prstGeom prst="roundRect">
            <a:avLst>
              <a:gd name="adj" fmla="val 12000"/>
            </a:avLst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검증 결과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244000" y="18990000"/>
          <a:ext cx="151776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2000"/>
                <a:gridCol w="1872000"/>
                <a:gridCol w="7833600"/>
              </a:tblGrid>
              <a:tr h="660000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5B5168"/>
                          </a:solidFill>
                          <a:latin typeface="Paperlogy"/>
                        </a:rPr>
                        <a:t>지표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5B5168"/>
                          </a:solidFill>
                          <a:latin typeface="Paperlogy"/>
                        </a:rPr>
                        <a:t>결과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5B5168"/>
                          </a:solidFill>
                          <a:latin typeface="Paperlogy"/>
                        </a:rPr>
                        <a:t>측정 조건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930">
                          <a:solidFill>
                            <a:srgbClr val="1C1526"/>
                          </a:solidFill>
                          <a:latin typeface="Paperlogy"/>
                        </a:rPr>
                        <a:t>요약 안전 정보 보존율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50" b="1">
                          <a:solidFill>
                            <a:srgbClr val="43176F"/>
                          </a:solidFill>
                          <a:latin typeface="Paperlogy"/>
                        </a:rPr>
                        <a:t>98.1%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5B5168"/>
                          </a:solidFill>
                          <a:latin typeface="Paperlogy"/>
                        </a:rPr>
                        <a:t>모의 회진 14건 / 약 용량·일정·경고 항목 52→53 중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930">
                          <a:solidFill>
                            <a:srgbClr val="1C1526"/>
                          </a:solidFill>
                          <a:latin typeface="Paperlogy"/>
                        </a:rPr>
                        <a:t>요약 전체 보존율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50" b="1">
                          <a:solidFill>
                            <a:srgbClr val="43176F"/>
                          </a:solidFill>
                          <a:latin typeface="Paperlogy"/>
                        </a:rPr>
                        <a:t>94.7%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5B5168"/>
                          </a:solidFill>
                          <a:latin typeface="Paperlogy"/>
                        </a:rPr>
                        <a:t>동일 데이터셋 71/75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930">
                          <a:solidFill>
                            <a:srgbClr val="1C1526"/>
                          </a:solidFill>
                          <a:latin typeface="Paperlogy"/>
                        </a:rPr>
                        <a:t>의학용어 인식 (메트포르민)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50" b="1">
                          <a:solidFill>
                            <a:srgbClr val="43176F"/>
                          </a:solidFill>
                          <a:latin typeface="Paperlogy"/>
                        </a:rPr>
                        <a:t>3/3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5B5168"/>
                          </a:solidFill>
                          <a:latin typeface="Paperlogy"/>
                        </a:rPr>
                        <a:t>마이크 30cm, 단어 부스팅 20 적용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930">
                          <a:solidFill>
                            <a:srgbClr val="1C1526"/>
                          </a:solidFill>
                          <a:latin typeface="Paperlogy"/>
                        </a:rPr>
                        <a:t>미검수 출력 차단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50" b="1">
                          <a:solidFill>
                            <a:srgbClr val="43176F"/>
                          </a:solidFill>
                          <a:latin typeface="Paperlogy"/>
                        </a:rPr>
                        <a:t>100%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5B5168"/>
                          </a:solidFill>
                          <a:latin typeface="Paperlogy"/>
                        </a:rPr>
                        <a:t>승인 전 출력·QR·인쇄 경로 전수 시험, 전부 403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930">
                          <a:solidFill>
                            <a:srgbClr val="1C1526"/>
                          </a:solidFill>
                          <a:latin typeface="Paperlogy"/>
                        </a:rPr>
                        <a:t>라이다 수신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50" b="1">
                          <a:solidFill>
                            <a:srgbClr val="43176F"/>
                          </a:solidFill>
                          <a:latin typeface="Paperlogy"/>
                        </a:rPr>
                        <a:t>10Hz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5B5168"/>
                          </a:solidFill>
                          <a:latin typeface="Paperlogy"/>
                        </a:rPr>
                        <a:t>2,172점/회전, CRC 오류 0% (921,600bps 실측)</a:t>
                      </a:r>
                    </a:p>
                  </a:txBody>
                  <a:tcPr marL="86400" marR="72000" marT="43200" marB="43200" anchor="ctr">
                    <a:noFill/>
                  </a:tcPr>
                </a:tc>
              </a:tr>
            </a:tbl>
          </a:graphicData>
        </a:graphic>
      </p:graphicFrame>
      <p:pic>
        <p:nvPicPr>
          <p:cNvPr id="24" name="Picture 2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0800" y="23040000"/>
            <a:ext cx="13824000" cy="502690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7244000" y="28296000"/>
            <a:ext cx="15177600" cy="522000"/>
          </a:xfrm>
          <a:prstGeom prst="roundRect">
            <a:avLst>
              <a:gd name="adj" fmla="val 12000"/>
            </a:avLst>
          </a:prstGeom>
          <a:solidFill>
            <a:srgbClr val="6B3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차별점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44000" y="28998000"/>
            <a:ext cx="15177600" cy="28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2210" b="1">
                <a:solidFill>
                  <a:srgbClr val="0E9A96"/>
                </a:solidFill>
                <a:latin typeface="Paperlogy"/>
              </a:rPr>
              <a:t>1  </a:t>
            </a:r>
            <a:r>
              <a:rPr sz="2210" b="1">
                <a:solidFill>
                  <a:srgbClr val="43176F"/>
                </a:solidFill>
                <a:latin typeface="Paperlogy"/>
              </a:rPr>
              <a:t>로봇 안에서 끝난다.</a:t>
            </a:r>
            <a:r>
              <a:rPr sz="2210" b="0">
                <a:solidFill>
                  <a:srgbClr val="1C1526"/>
                </a:solidFill>
                <a:latin typeface="Paperlogy"/>
              </a:rPr>
              <a:t> 외부 서버 전송이 없어 대화 원문이 병원을 벗어나지 않고, 인터넷이 없는 구역에서도 동작한다.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2210" b="1">
                <a:solidFill>
                  <a:srgbClr val="0E9A96"/>
                </a:solidFill>
                <a:latin typeface="Paperlogy"/>
              </a:rPr>
              <a:t>2  </a:t>
            </a:r>
            <a:r>
              <a:rPr sz="2210" b="1">
                <a:solidFill>
                  <a:srgbClr val="43176F"/>
                </a:solidFill>
                <a:latin typeface="Paperlogy"/>
              </a:rPr>
              <a:t>모델을 믿지 않는다.</a:t>
            </a:r>
            <a:r>
              <a:rPr sz="2210" b="0">
                <a:solidFill>
                  <a:srgbClr val="1C1526"/>
                </a:solidFill>
                <a:latin typeface="Paperlogy"/>
              </a:rPr>
              <a:t> 원문에 없는 숫자는 코드가 버리고, 모델이 흘린 용량·일정·경고는 코드가 원문에서 직접 회수한다. 소형 모델의 환각을 구조로 막았다.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2210" b="1">
                <a:solidFill>
                  <a:srgbClr val="0E9A96"/>
                </a:solidFill>
                <a:latin typeface="Paperlogy"/>
              </a:rPr>
              <a:t>3  </a:t>
            </a:r>
            <a:r>
              <a:rPr sz="2210" b="1">
                <a:solidFill>
                  <a:srgbClr val="43176F"/>
                </a:solidFill>
                <a:latin typeface="Paperlogy"/>
              </a:rPr>
              <a:t>의사가 승인해야 나간다.</a:t>
            </a:r>
            <a:r>
              <a:rPr sz="2210" b="0">
                <a:solidFill>
                  <a:srgbClr val="1C1526"/>
                </a:solidFill>
                <a:latin typeface="Paperlogy"/>
              </a:rPr>
              <a:t> 검수 전에는 인쇄·QR이 모두 차단된다. 사람이 책임지는 지점을 코드로 고정했다.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78400" y="31680000"/>
            <a:ext cx="30643200" cy="522000"/>
          </a:xfrm>
          <a:prstGeom prst="roundRect">
            <a:avLst>
              <a:gd name="adj" fmla="val 12000"/>
            </a:avLst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활용 방안 및 기대효과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8400" y="32364000"/>
            <a:ext cx="306432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100" b="0">
                <a:solidFill>
                  <a:srgbClr val="1C1526"/>
                </a:solidFill>
                <a:latin typeface="Paperlogy"/>
              </a:rPr>
              <a:t>· </a:t>
            </a:r>
            <a:r>
              <a:rPr sz="2100" b="1">
                <a:solidFill>
                  <a:srgbClr val="43176F"/>
                </a:solidFill>
                <a:latin typeface="Paperlogy"/>
              </a:rPr>
              <a:t>환자</a:t>
            </a:r>
            <a:r>
              <a:rPr sz="2100" b="0">
                <a:solidFill>
                  <a:srgbClr val="1C1526"/>
                </a:solidFill>
                <a:latin typeface="Paperlogy"/>
              </a:rPr>
              <a:t> — 설명을 종이로 가져간다. 복약 순응도와 재방문 일정 준수가 올라간다.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100" b="0">
                <a:solidFill>
                  <a:srgbClr val="1C1526"/>
                </a:solidFill>
                <a:latin typeface="Paperlogy"/>
              </a:rPr>
              <a:t>· </a:t>
            </a:r>
            <a:r>
              <a:rPr sz="2100" b="1">
                <a:solidFill>
                  <a:srgbClr val="43176F"/>
                </a:solidFill>
                <a:latin typeface="Paperlogy"/>
              </a:rPr>
              <a:t>의료진</a:t>
            </a:r>
            <a:r>
              <a:rPr sz="2100" b="0">
                <a:solidFill>
                  <a:srgbClr val="1C1526"/>
                </a:solidFill>
                <a:latin typeface="Paperlogy"/>
              </a:rPr>
              <a:t> — 같은 설명의 반복과 퇴원 후 전화 문의가 줄고, 남는 기록은 의사가 승인한 내용뿐이다.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100" b="0">
                <a:solidFill>
                  <a:srgbClr val="1C1526"/>
                </a:solidFill>
                <a:latin typeface="Paperlogy"/>
              </a:rPr>
              <a:t>· </a:t>
            </a:r>
            <a:r>
              <a:rPr sz="2100" b="1">
                <a:solidFill>
                  <a:srgbClr val="43176F"/>
                </a:solidFill>
                <a:latin typeface="Paperlogy"/>
              </a:rPr>
              <a:t>병원·확장</a:t>
            </a:r>
            <a:r>
              <a:rPr sz="2100" b="0">
                <a:solidFill>
                  <a:srgbClr val="1C1526"/>
                </a:solidFill>
                <a:latin typeface="Paperlogy"/>
              </a:rPr>
              <a:t> — 외부 전송이 없어 개인정보 부담이 작고 인터넷 없는 구역에서도 쓴다. 투약 안내·퇴원 교육·검사 전 준비사항으로 확장한다.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78400" y="33768000"/>
            <a:ext cx="30643200" cy="522000"/>
          </a:xfrm>
          <a:prstGeom prst="roundRect">
            <a:avLst>
              <a:gd name="adj" fmla="val 12000"/>
            </a:avLst>
          </a:prstGeom>
          <a:solidFill>
            <a:srgbClr val="431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8000" rIns="144000" tIns="0" bIns="0"/>
          <a:lstStyle/>
          <a:p>
            <a:pPr algn="l"/>
            <a:r>
              <a:rPr sz="2550" b="1">
                <a:solidFill>
                  <a:srgbClr val="FFFFFF"/>
                </a:solidFill>
                <a:latin typeface="Paperlogy"/>
              </a:rPr>
              <a:t>실제 생성 예시 — 의사가 말하면, 환자는 이 종이를 받는다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78400" y="34452000"/>
            <a:ext cx="10800000" cy="43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9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690000" y="34452000"/>
            <a:ext cx="8820000" cy="43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9D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1621600" y="34452000"/>
            <a:ext cx="10800000" cy="4320000"/>
          </a:xfrm>
          <a:prstGeom prst="roundRect">
            <a:avLst>
              <a:gd name="adj" fmla="val 2500"/>
            </a:avLst>
          </a:prstGeom>
          <a:solidFill>
            <a:srgbClr val="FAF7FD"/>
          </a:solidFill>
          <a:ln w="27940">
            <a:solidFill>
              <a:srgbClr val="431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4400" y="34614000"/>
            <a:ext cx="1036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39" b="1">
                <a:solidFill>
                  <a:srgbClr val="5B5168"/>
                </a:solidFill>
                <a:latin typeface="Paperlogy"/>
              </a:rPr>
              <a:t>① 진료실에서 오간 말  —  의사 ▸ 환자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4400" y="34956000"/>
            <a:ext cx="10368000" cy="3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760" b="1">
                <a:solidFill>
                  <a:srgbClr val="0E9A96"/>
                </a:solidFill>
                <a:latin typeface="Paperlogy"/>
              </a:rPr>
              <a:t>의사  </a:t>
            </a:r>
            <a:r>
              <a:rPr sz="1760" b="0">
                <a:solidFill>
                  <a:srgbClr val="2A2335"/>
                </a:solidFill>
                <a:latin typeface="Paperlogy"/>
              </a:rPr>
              <a:t>“지난번 검사 결과부터 보겠습니다. 공복 혈당이 </a:t>
            </a:r>
            <a:r>
              <a:rPr sz="1760" b="1">
                <a:solidFill>
                  <a:srgbClr val="43176F"/>
                </a:solidFill>
                <a:latin typeface="Paperlogy"/>
              </a:rPr>
              <a:t>백팔십</a:t>
            </a:r>
            <a:r>
              <a:rPr sz="1760" b="0">
                <a:solidFill>
                  <a:srgbClr val="2A2335"/>
                </a:solidFill>
                <a:latin typeface="Paperlogy"/>
              </a:rPr>
              <a:t>이고 당화혈색소가 </a:t>
            </a:r>
            <a:r>
              <a:rPr sz="1760" b="1">
                <a:solidFill>
                  <a:srgbClr val="43176F"/>
                </a:solidFill>
                <a:latin typeface="Paperlogy"/>
              </a:rPr>
              <a:t>팔점이 퍼센트</a:t>
            </a:r>
            <a:r>
              <a:rPr sz="1760" b="0">
                <a:solidFill>
                  <a:srgbClr val="2A2335"/>
                </a:solidFill>
                <a:latin typeface="Paperlogy"/>
              </a:rPr>
              <a:t>입니다. 목표가 칠 퍼센트 아래라 조금 높아요.”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760" b="1">
                <a:solidFill>
                  <a:srgbClr val="0E9A96"/>
                </a:solidFill>
                <a:latin typeface="Paperlogy"/>
              </a:rPr>
              <a:t>의사  </a:t>
            </a:r>
            <a:r>
              <a:rPr sz="1760" b="0">
                <a:solidFill>
                  <a:srgbClr val="2A2335"/>
                </a:solidFill>
                <a:latin typeface="Paperlogy"/>
              </a:rPr>
              <a:t>“메트포르민을 하루 오백에서 </a:t>
            </a:r>
            <a:r>
              <a:rPr sz="1760" b="1">
                <a:solidFill>
                  <a:srgbClr val="43176F"/>
                </a:solidFill>
                <a:latin typeface="Paperlogy"/>
              </a:rPr>
              <a:t>천 밀리그램</a:t>
            </a:r>
            <a:r>
              <a:rPr sz="1760" b="0">
                <a:solidFill>
                  <a:srgbClr val="2A2335"/>
                </a:solidFill>
                <a:latin typeface="Paperlogy"/>
              </a:rPr>
              <a:t>으로 올리겠습니다. </a:t>
            </a:r>
            <a:r>
              <a:rPr sz="1760" b="1">
                <a:solidFill>
                  <a:srgbClr val="43176F"/>
                </a:solidFill>
                <a:latin typeface="Paperlogy"/>
              </a:rPr>
              <a:t>아침저녁으로 한 알씩</a:t>
            </a:r>
            <a:r>
              <a:rPr sz="1760" b="0">
                <a:solidFill>
                  <a:srgbClr val="2A2335"/>
                </a:solidFill>
                <a:latin typeface="Paperlogy"/>
              </a:rPr>
              <a:t> 식사와 함께 드세요.”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760" b="1">
                <a:solidFill>
                  <a:srgbClr val="5B5168"/>
                </a:solidFill>
                <a:latin typeface="Paperlogy"/>
              </a:rPr>
              <a:t>환자  </a:t>
            </a:r>
            <a:r>
              <a:rPr sz="1760" b="0">
                <a:solidFill>
                  <a:srgbClr val="2A2335"/>
                </a:solidFill>
                <a:latin typeface="Paperlogy"/>
              </a:rPr>
              <a:t>“속이 불편하면 어떡하죠?”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760" b="1">
                <a:solidFill>
                  <a:srgbClr val="0E9A96"/>
                </a:solidFill>
                <a:latin typeface="Paperlogy"/>
              </a:rPr>
              <a:t>의사  </a:t>
            </a:r>
            <a:r>
              <a:rPr sz="1760" b="0">
                <a:solidFill>
                  <a:srgbClr val="2A2335"/>
                </a:solidFill>
                <a:latin typeface="Paperlogy"/>
              </a:rPr>
              <a:t>“대개 일주일이면 괜찮아집니다. 그리고 저혈당이 올 수 있으니 </a:t>
            </a:r>
            <a:r>
              <a:rPr sz="1760" b="1">
                <a:solidFill>
                  <a:srgbClr val="43176F"/>
                </a:solidFill>
                <a:latin typeface="Paperlogy"/>
              </a:rPr>
              <a:t>사탕을 꼭 가지고 다니세요</a:t>
            </a:r>
            <a:r>
              <a:rPr sz="1760" b="0">
                <a:solidFill>
                  <a:srgbClr val="2A2335"/>
                </a:solidFill>
                <a:latin typeface="Paperlogy"/>
              </a:rPr>
              <a:t>. 식은땀이 나거나 어지러우면 바로 드시고요.”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760" b="1">
                <a:solidFill>
                  <a:srgbClr val="0E9A96"/>
                </a:solidFill>
                <a:latin typeface="Paperlogy"/>
              </a:rPr>
              <a:t>의사  </a:t>
            </a:r>
            <a:r>
              <a:rPr sz="1760" b="0">
                <a:solidFill>
                  <a:srgbClr val="2A2335"/>
                </a:solidFill>
                <a:latin typeface="Paperlogy"/>
              </a:rPr>
              <a:t>“</a:t>
            </a:r>
            <a:r>
              <a:rPr sz="1760" b="1">
                <a:solidFill>
                  <a:srgbClr val="43176F"/>
                </a:solidFill>
                <a:latin typeface="Paperlogy"/>
              </a:rPr>
              <a:t>이 주 뒤에</a:t>
            </a:r>
            <a:r>
              <a:rPr sz="1760" b="0">
                <a:solidFill>
                  <a:srgbClr val="2A2335"/>
                </a:solidFill>
                <a:latin typeface="Paperlogy"/>
              </a:rPr>
              <a:t> 혈액검사 다시 하고 결과 보고 조정하겠습니다.”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4400" y="38196000"/>
            <a:ext cx="10368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30" b="0">
                <a:solidFill>
                  <a:srgbClr val="5B5168"/>
                </a:solidFill>
                <a:latin typeface="Paperlogy"/>
              </a:rPr>
              <a:t>잡담은 임상 게이트가 걸러 모델에 가지 않는다. 한글 수사는 숫자로 바꿔 원문과 대조한다 — 백팔십→180, 팔점이→8.2, 천→1000.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70000" y="34614000"/>
            <a:ext cx="84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39" b="1">
                <a:solidFill>
                  <a:srgbClr val="5B5168"/>
                </a:solidFill>
                <a:latin typeface="Paperlogy"/>
              </a:rPr>
              <a:t>② 의사 검수 — 실제 구동 캡처</a:t>
            </a:r>
          </a:p>
        </p:txBody>
      </p:sp>
      <p:pic>
        <p:nvPicPr>
          <p:cNvPr id="37" name="Picture 36" descr="review_sh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11290" y="34956000"/>
            <a:ext cx="3777419" cy="3024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870000" y="38088000"/>
            <a:ext cx="846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30" b="0">
                <a:solidFill>
                  <a:srgbClr val="5B5168"/>
                </a:solidFill>
                <a:latin typeface="Paperlogy"/>
              </a:rPr>
              <a:t>인식 오류가 남은 줄을 의사가 고치고 승인한다. </a:t>
            </a:r>
            <a:r>
              <a:rPr sz="1530" b="1">
                <a:solidFill>
                  <a:srgbClr val="43176F"/>
                </a:solidFill>
                <a:latin typeface="Paperlogy"/>
              </a:rPr>
              <a:t>승인 전에는 인쇄·QR 경로가 모두 403으로 차단된다.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837600" y="34614000"/>
            <a:ext cx="1036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39" b="1">
                <a:solidFill>
                  <a:srgbClr val="43176F"/>
                </a:solidFill>
                <a:latin typeface="Paperlogy"/>
              </a:rPr>
              <a:t>③ 환자가 받아 가는 메모  —  A6 인쇄 · QR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837600" y="34956000"/>
            <a:ext cx="10368000" cy="3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9" b="1">
                <a:solidFill>
                  <a:srgbClr val="43176F"/>
                </a:solidFill>
                <a:latin typeface="Paperlogy"/>
              </a:rPr>
              <a:t>오늘 검사 결과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공복 혈당 180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당화혈색소 8.2% (목표 7% 미만)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9" b="1">
                <a:solidFill>
                  <a:srgbClr val="43176F"/>
                </a:solidFill>
                <a:latin typeface="Paperlogy"/>
              </a:rPr>
              <a:t>처방 · 약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메트포르민 500mg → 1000mg 증량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아침·저녁 1알씩, 식사와 함께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9" b="1">
                <a:solidFill>
                  <a:srgbClr val="43176F"/>
                </a:solidFill>
                <a:latin typeface="Paperlogy"/>
              </a:rPr>
              <a:t>주의하세요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저혈당 대비해 사탕 휴대</a:t>
            </a:r>
          </a:p>
          <a:p>
            <a:pPr algn="l">
              <a:lnSpc>
                <a:spcPct val="124000"/>
              </a:lnSpc>
              <a:spcAft>
                <a:spcPts val="1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식은땀·어지럼 시 바로 섭취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증량 초기 속쓰림 가능, 보통 1주 내 호전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639" b="1">
                <a:solidFill>
                  <a:srgbClr val="43176F"/>
                </a:solidFill>
                <a:latin typeface="Paperlogy"/>
              </a:rPr>
              <a:t>다음 진료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760" b="0">
                <a:solidFill>
                  <a:srgbClr val="1C1526"/>
                </a:solidFill>
                <a:latin typeface="Paperlogy"/>
              </a:rPr>
              <a:t>   · 2주 뒤 혈액검사 후 용량 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37600" y="38304000"/>
            <a:ext cx="10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90" b="1">
                <a:solidFill>
                  <a:srgbClr val="43176F"/>
                </a:solidFill>
                <a:latin typeface="Paperlogy"/>
              </a:rPr>
              <a:t>● 의사 검수 완료 — 승인본만 환자에게 나간다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78400" y="38880000"/>
            <a:ext cx="30643200" cy="21600"/>
          </a:xfrm>
          <a:prstGeom prst="rect">
            <a:avLst/>
          </a:prstGeom>
          <a:solidFill>
            <a:srgbClr val="D9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78400" y="39060000"/>
            <a:ext cx="306432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39" b="1">
                <a:solidFill>
                  <a:srgbClr val="43176F"/>
                </a:solidFill>
                <a:latin typeface="Paperlogy"/>
              </a:rPr>
              <a:t>온디바이스   ·   Human-in-the-loop   ·   ROS2 미사용 · 순수 Python        </a:t>
            </a:r>
            <a:r>
              <a:rPr sz="1639" b="0">
                <a:solidFill>
                  <a:srgbClr val="5B5168"/>
                </a:solidFill>
                <a:latin typeface="Paperlogy"/>
              </a:rPr>
              <a:t>Jetson Orin NX 16GB · NVIDIA Riva ko-KR · LDROBOT STL-27L · Arduino Mega 2560</a:t>
            </a:r>
          </a:p>
        </p:txBody>
      </p:sp>
    </p:spTree>
    <p:extLst>
      <p:ext uri="{BB962C8B-B14F-4D97-AF65-F5344CB8AC3E}">
        <p14:creationId xmlns:p14="http://schemas.microsoft.com/office/powerpoint/2010/main" val="286566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694</Words>
  <Application>Microsoft Office PowerPoint</Application>
  <PresentationFormat>사용자 지정</PresentationFormat>
  <Paragraphs>91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페이퍼로지 4 Regular</vt:lpstr>
      <vt:lpstr>페이퍼로지 5 Medium</vt:lpstr>
      <vt:lpstr>페이퍼로지 6 SemiBold</vt:lpstr>
      <vt:lpstr>페이퍼로지 8 ExtraBold</vt:lpstr>
      <vt:lpstr>Arial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Heejeong Ji</dc:creator>
  <cp:lastModifiedBy>Heejeong Ji</cp:lastModifiedBy>
  <cp:revision>2</cp:revision>
  <dcterms:created xsi:type="dcterms:W3CDTF">2026-10-01T06:07:44Z</dcterms:created>
  <dcterms:modified xsi:type="dcterms:W3CDTF">2026-10-01T12:23:24Z</dcterms:modified>
</cp:coreProperties>
</file>